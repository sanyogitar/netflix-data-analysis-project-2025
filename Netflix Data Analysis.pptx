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Roboto"/>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oboto-regular.fntdata"/><Relationship Id="rId10" Type="http://schemas.openxmlformats.org/officeDocument/2006/relationships/slide" Target="slides/slide5.xml"/><Relationship Id="rId13" Type="http://schemas.openxmlformats.org/officeDocument/2006/relationships/font" Target="fonts/Roboto-italic.fntdata"/><Relationship Id="rId12"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b38ca803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b38ca803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b38ca8036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b38ca8036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b38ca8036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b38ca8036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b38ca8036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b38ca8036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5.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593975" y="454950"/>
            <a:ext cx="6688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dk1"/>
                </a:solidFill>
                <a:highlight>
                  <a:srgbClr val="A6D6F4"/>
                </a:highlight>
              </a:rPr>
              <a:t>Netflix Data Analysis Project 2025</a:t>
            </a:r>
            <a:endParaRPr b="1" sz="2700">
              <a:highlight>
                <a:srgbClr val="A6D6F4"/>
              </a:highlight>
            </a:endParaRPr>
          </a:p>
        </p:txBody>
      </p:sp>
      <p:sp>
        <p:nvSpPr>
          <p:cNvPr id="55" name="Google Shape;55;p13"/>
          <p:cNvSpPr txBox="1"/>
          <p:nvPr/>
        </p:nvSpPr>
        <p:spPr>
          <a:xfrm>
            <a:off x="777075" y="1241025"/>
            <a:ext cx="39402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Roboto"/>
                <a:ea typeface="Roboto"/>
                <a:cs typeface="Roboto"/>
                <a:sym typeface="Roboto"/>
              </a:rPr>
              <a:t>This project explores a Netflix movies and TV shows dataset to understand content trends, audience preferences, and release patterns in 2025. The analysis focuses on genres, popularity, and yearly production to identify which types of content perform best and which years have the highest volume of releases.</a:t>
            </a:r>
            <a:endParaRPr sz="1700"/>
          </a:p>
        </p:txBody>
      </p:sp>
      <p:pic>
        <p:nvPicPr>
          <p:cNvPr id="56" name="Google Shape;56;p13"/>
          <p:cNvPicPr preferRelativeResize="0"/>
          <p:nvPr/>
        </p:nvPicPr>
        <p:blipFill>
          <a:blip r:embed="rId3">
            <a:alphaModFix/>
          </a:blip>
          <a:stretch>
            <a:fillRect/>
          </a:stretch>
        </p:blipFill>
        <p:spPr>
          <a:xfrm>
            <a:off x="5932675" y="1456875"/>
            <a:ext cx="2857500" cy="1600200"/>
          </a:xfrm>
          <a:prstGeom prst="rect">
            <a:avLst/>
          </a:prstGeom>
          <a:noFill/>
          <a:ln>
            <a:noFill/>
          </a:ln>
        </p:spPr>
      </p:pic>
      <p:sp>
        <p:nvSpPr>
          <p:cNvPr id="57" name="Google Shape;57;p13"/>
          <p:cNvSpPr txBox="1"/>
          <p:nvPr/>
        </p:nvSpPr>
        <p:spPr>
          <a:xfrm>
            <a:off x="4717275" y="4720700"/>
            <a:ext cx="50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By- Sanyogita Rajput</a:t>
            </a:r>
            <a:endParaRPr sz="1000">
              <a:solidFill>
                <a:schemeClr val="dk2"/>
              </a:solidFill>
            </a:endParaRPr>
          </a:p>
        </p:txBody>
      </p:sp>
      <p:sp>
        <p:nvSpPr>
          <p:cNvPr id="58" name="Google Shape;58;p13"/>
          <p:cNvSpPr txBox="1"/>
          <p:nvPr/>
        </p:nvSpPr>
        <p:spPr>
          <a:xfrm>
            <a:off x="850175" y="3272925"/>
            <a:ext cx="6179700" cy="170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Roboto"/>
                <a:ea typeface="Roboto"/>
                <a:cs typeface="Roboto"/>
                <a:sym typeface="Roboto"/>
              </a:rPr>
              <a:t>Tech Stack &amp; Skills</a:t>
            </a:r>
            <a:endParaRPr b="1">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rPr b="1" lang="en" sz="1100">
                <a:solidFill>
                  <a:schemeClr val="dk1"/>
                </a:solidFill>
                <a:highlight>
                  <a:srgbClr val="A6D6F4"/>
                </a:highlight>
                <a:latin typeface="Roboto"/>
                <a:ea typeface="Roboto"/>
                <a:cs typeface="Roboto"/>
                <a:sym typeface="Roboto"/>
              </a:rPr>
              <a:t>Exploratory Data Analysis (EDA)</a:t>
            </a:r>
            <a:r>
              <a:rPr lang="en" sz="1100">
                <a:solidFill>
                  <a:schemeClr val="dk1"/>
                </a:solidFill>
                <a:highlight>
                  <a:srgbClr val="A6D6F4"/>
                </a:highlight>
                <a:latin typeface="Roboto"/>
                <a:ea typeface="Roboto"/>
                <a:cs typeface="Roboto"/>
                <a:sym typeface="Roboto"/>
              </a:rPr>
              <a:t> on movie dataset using Python, Pandas, NumPy, Matplotlib, Seaborn.</a:t>
            </a:r>
            <a:endParaRPr sz="1100">
              <a:solidFill>
                <a:schemeClr val="dk1"/>
              </a:solidFill>
              <a:highlight>
                <a:srgbClr val="A6D6F4"/>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highlight>
                  <a:srgbClr val="A6D6F4"/>
                </a:highlight>
                <a:latin typeface="Roboto"/>
                <a:ea typeface="Roboto"/>
                <a:cs typeface="Roboto"/>
                <a:sym typeface="Roboto"/>
              </a:rPr>
              <a:t>Data Cleaning</a:t>
            </a:r>
            <a:r>
              <a:rPr lang="en" sz="1100">
                <a:solidFill>
                  <a:schemeClr val="dk1"/>
                </a:solidFill>
                <a:highlight>
                  <a:srgbClr val="A6D6F4"/>
                </a:highlight>
                <a:latin typeface="Roboto"/>
                <a:ea typeface="Roboto"/>
                <a:cs typeface="Roboto"/>
                <a:sym typeface="Roboto"/>
              </a:rPr>
              <a:t>: date parsing, NaN removal, genre explosion. Data Transformation: custom pd.cut() categorization, memory-optimized dtypes.</a:t>
            </a:r>
            <a:endParaRPr sz="1100">
              <a:solidFill>
                <a:schemeClr val="dk1"/>
              </a:solidFill>
              <a:highlight>
                <a:srgbClr val="A6D6F4"/>
              </a:highlight>
              <a:latin typeface="Roboto"/>
              <a:ea typeface="Roboto"/>
              <a:cs typeface="Roboto"/>
              <a:sym typeface="Roboto"/>
            </a:endParaRPr>
          </a:p>
          <a:p>
            <a:pPr indent="0" lvl="0" marL="0" rtl="0" algn="l">
              <a:spcBef>
                <a:spcPts val="600"/>
              </a:spcBef>
              <a:spcAft>
                <a:spcPts val="0"/>
              </a:spcAft>
              <a:buNone/>
            </a:pPr>
            <a:r>
              <a:t/>
            </a:r>
            <a:endParaRPr sz="1200">
              <a:solidFill>
                <a:schemeClr val="dk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nvSpPr>
        <p:spPr>
          <a:xfrm>
            <a:off x="897250" y="702000"/>
            <a:ext cx="5248200" cy="401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900">
                <a:solidFill>
                  <a:schemeClr val="dk1"/>
                </a:solidFill>
                <a:latin typeface="Roboto"/>
                <a:ea typeface="Roboto"/>
                <a:cs typeface="Roboto"/>
                <a:sym typeface="Roboto"/>
              </a:rPr>
              <a:t>Objective &amp; Research Questions</a:t>
            </a:r>
            <a:endParaRPr b="1" sz="19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rPr lang="en">
                <a:solidFill>
                  <a:schemeClr val="dk1"/>
                </a:solidFill>
                <a:latin typeface="Roboto"/>
                <a:ea typeface="Roboto"/>
                <a:cs typeface="Roboto"/>
                <a:sym typeface="Roboto"/>
              </a:rPr>
              <a:t>Primary Objective: To understand genre distribution, audience preferences, and temporal patterns in movie production and popularity within the dataset.</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a:solidFill>
                  <a:schemeClr val="dk1"/>
                </a:solidFill>
                <a:latin typeface="Roboto"/>
                <a:ea typeface="Roboto"/>
                <a:cs typeface="Roboto"/>
                <a:sym typeface="Roboto"/>
              </a:rPr>
              <a:t>Research Questions:</a:t>
            </a:r>
            <a:endParaRPr>
              <a:solidFill>
                <a:schemeClr val="dk1"/>
              </a:solidFill>
              <a:latin typeface="Roboto"/>
              <a:ea typeface="Roboto"/>
              <a:cs typeface="Roboto"/>
              <a:sym typeface="Roboto"/>
            </a:endParaRPr>
          </a:p>
          <a:p>
            <a:pPr indent="-317500" lvl="0" marL="457200" rtl="0" algn="l">
              <a:lnSpc>
                <a:spcPct val="115000"/>
              </a:lnSpc>
              <a:spcBef>
                <a:spcPts val="600"/>
              </a:spcBef>
              <a:spcAft>
                <a:spcPts val="0"/>
              </a:spcAft>
              <a:buClr>
                <a:schemeClr val="dk1"/>
              </a:buClr>
              <a:buSzPts val="1400"/>
              <a:buFont typeface="Roboto"/>
              <a:buChar char="●"/>
            </a:pPr>
            <a:r>
              <a:rPr lang="en">
                <a:solidFill>
                  <a:schemeClr val="dk1"/>
                </a:solidFill>
                <a:latin typeface="Roboto"/>
                <a:ea typeface="Roboto"/>
                <a:cs typeface="Roboto"/>
                <a:sym typeface="Roboto"/>
              </a:rPr>
              <a:t>Q1: Which genre appears most frequently in the dataset?</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Q2: Which genres receive the highest proportion of popular votes?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Q3: Which film achieved the highest popularity rating, and what genres does it represent?</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Q4: Which film received the lowest popularity rating, and what genres characterize it?</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Q5: In which year was the maximum number of films released?</a:t>
            </a:r>
            <a:endParaRPr>
              <a:solidFill>
                <a:schemeClr val="dk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nvSpPr>
        <p:spPr>
          <a:xfrm>
            <a:off x="252750" y="265400"/>
            <a:ext cx="5930400" cy="428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700">
                <a:solidFill>
                  <a:schemeClr val="dk1"/>
                </a:solidFill>
                <a:latin typeface="Roboto"/>
                <a:ea typeface="Roboto"/>
                <a:cs typeface="Roboto"/>
                <a:sym typeface="Roboto"/>
              </a:rPr>
              <a:t>Q1: Most Frequent Genre</a:t>
            </a:r>
            <a:endParaRPr b="1" sz="17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rPr lang="en" sz="1200">
                <a:solidFill>
                  <a:schemeClr val="dk1"/>
                </a:solidFill>
                <a:latin typeface="Roboto"/>
                <a:ea typeface="Roboto"/>
                <a:cs typeface="Roboto"/>
                <a:sym typeface="Roboto"/>
              </a:rPr>
              <a:t>Finding: The Drama genre is the predominant category in the dataset, accounting for 14% of all films across 19 distinct genres.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200">
                <a:solidFill>
                  <a:schemeClr val="dk1"/>
                </a:solidFill>
                <a:latin typeface="Roboto"/>
                <a:ea typeface="Roboto"/>
                <a:cs typeface="Roboto"/>
                <a:sym typeface="Roboto"/>
              </a:rPr>
              <a:t>Implication: Drama's dominance suggests a significant industry focus on character-driven narratives and emotional storytelling. This reflects both audience demand and production capacity in the drama segment.</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t/>
            </a:r>
            <a:endParaRPr sz="1200">
              <a:solidFill>
                <a:schemeClr val="dk1"/>
              </a:solidFill>
              <a:latin typeface="Roboto"/>
              <a:ea typeface="Roboto"/>
              <a:cs typeface="Roboto"/>
              <a:sym typeface="Roboto"/>
            </a:endParaRPr>
          </a:p>
          <a:p>
            <a:pPr indent="0" lvl="0" marL="0" rtl="0" algn="l">
              <a:lnSpc>
                <a:spcPct val="115000"/>
              </a:lnSpc>
              <a:spcBef>
                <a:spcPts val="1800"/>
              </a:spcBef>
              <a:spcAft>
                <a:spcPts val="0"/>
              </a:spcAft>
              <a:buNone/>
            </a:pPr>
            <a:r>
              <a:rPr b="1" lang="en" sz="1700">
                <a:solidFill>
                  <a:schemeClr val="dk1"/>
                </a:solidFill>
                <a:latin typeface="Roboto"/>
                <a:ea typeface="Roboto"/>
                <a:cs typeface="Roboto"/>
                <a:sym typeface="Roboto"/>
              </a:rPr>
              <a:t>Q2: Genres with Highest Popular Vote Representation</a:t>
            </a:r>
            <a:endParaRPr b="1" sz="17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rPr lang="en" sz="1200">
                <a:solidFill>
                  <a:schemeClr val="dk1"/>
                </a:solidFill>
                <a:latin typeface="Roboto"/>
                <a:ea typeface="Roboto"/>
                <a:cs typeface="Roboto"/>
                <a:sym typeface="Roboto"/>
              </a:rPr>
              <a:t>Finding: Approximately 25.5% of the dataset (6,520 films) received popular vote classifications. Among popular-vote movies, Drama maintains leadership with 18.5% of all popular-vote films, demonstrating consistent audience engagement.</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600"/>
              </a:spcAft>
              <a:buNone/>
            </a:pPr>
            <a:r>
              <a:rPr lang="en" sz="1200">
                <a:solidFill>
                  <a:schemeClr val="dk1"/>
                </a:solidFill>
                <a:latin typeface="Roboto"/>
                <a:ea typeface="Roboto"/>
                <a:cs typeface="Roboto"/>
                <a:sym typeface="Roboto"/>
              </a:rPr>
              <a:t>Implication: The concentration of popular votes in Drama indicates strong audience reception and sustained interest in this genre category. This suggests that Drama films not only represent the largest volume but also maintain highest engagement metrics.</a:t>
            </a:r>
            <a:endParaRPr sz="1200">
              <a:solidFill>
                <a:schemeClr val="dk1"/>
              </a:solidFill>
              <a:latin typeface="Roboto"/>
              <a:ea typeface="Roboto"/>
              <a:cs typeface="Roboto"/>
              <a:sym typeface="Roboto"/>
            </a:endParaRPr>
          </a:p>
        </p:txBody>
      </p:sp>
      <p:pic>
        <p:nvPicPr>
          <p:cNvPr id="69" name="Google Shape;69;p15"/>
          <p:cNvPicPr preferRelativeResize="0"/>
          <p:nvPr/>
        </p:nvPicPr>
        <p:blipFill>
          <a:blip r:embed="rId3">
            <a:alphaModFix/>
          </a:blip>
          <a:stretch>
            <a:fillRect/>
          </a:stretch>
        </p:blipFill>
        <p:spPr>
          <a:xfrm>
            <a:off x="6309525" y="265400"/>
            <a:ext cx="2565499" cy="2226225"/>
          </a:xfrm>
          <a:prstGeom prst="rect">
            <a:avLst/>
          </a:prstGeom>
          <a:noFill/>
          <a:ln>
            <a:noFill/>
          </a:ln>
        </p:spPr>
      </p:pic>
      <p:pic>
        <p:nvPicPr>
          <p:cNvPr id="70" name="Google Shape;70;p15"/>
          <p:cNvPicPr preferRelativeResize="0"/>
          <p:nvPr/>
        </p:nvPicPr>
        <p:blipFill>
          <a:blip r:embed="rId4">
            <a:alphaModFix/>
          </a:blip>
          <a:stretch>
            <a:fillRect/>
          </a:stretch>
        </p:blipFill>
        <p:spPr>
          <a:xfrm>
            <a:off x="6486524" y="2736200"/>
            <a:ext cx="2221800" cy="22959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nvSpPr>
        <p:spPr>
          <a:xfrm>
            <a:off x="278025" y="391750"/>
            <a:ext cx="5930400" cy="452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700">
                <a:solidFill>
                  <a:schemeClr val="dk1"/>
                </a:solidFill>
                <a:latin typeface="Roboto"/>
                <a:ea typeface="Roboto"/>
                <a:cs typeface="Roboto"/>
                <a:sym typeface="Roboto"/>
              </a:rPr>
              <a:t>Q3: Highest Popularity Film &amp; Genre Classification</a:t>
            </a:r>
            <a:endParaRPr b="1" sz="17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rPr lang="en" sz="1200">
                <a:solidFill>
                  <a:schemeClr val="dk1"/>
                </a:solidFill>
                <a:latin typeface="Roboto"/>
                <a:ea typeface="Roboto"/>
                <a:cs typeface="Roboto"/>
                <a:sym typeface="Roboto"/>
              </a:rPr>
              <a:t>Finding: "Spider-Man: No Way Home" achieved the maximum popularity rating in the dataset. This film spans three genres: Action, Adventure, and Science Fiction.</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200">
                <a:solidFill>
                  <a:schemeClr val="dk1"/>
                </a:solidFill>
                <a:latin typeface="Roboto"/>
                <a:ea typeface="Roboto"/>
                <a:cs typeface="Roboto"/>
                <a:sym typeface="Roboto"/>
              </a:rPr>
              <a:t>Implication: The convergence of Action, Adventure, and Science Fiction demonstrates successful multi-genre appeal, suggesting that hybrid genre combinations attract broader audience demographics and generate higher engagement levels.</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t/>
            </a:r>
            <a:endParaRPr sz="1200">
              <a:solidFill>
                <a:schemeClr val="dk1"/>
              </a:solidFill>
              <a:latin typeface="Roboto"/>
              <a:ea typeface="Roboto"/>
              <a:cs typeface="Roboto"/>
              <a:sym typeface="Roboto"/>
            </a:endParaRPr>
          </a:p>
          <a:p>
            <a:pPr indent="0" lvl="0" marL="0" rtl="0" algn="l">
              <a:lnSpc>
                <a:spcPct val="115000"/>
              </a:lnSpc>
              <a:spcBef>
                <a:spcPts val="1800"/>
              </a:spcBef>
              <a:spcAft>
                <a:spcPts val="0"/>
              </a:spcAft>
              <a:buNone/>
            </a:pPr>
            <a:r>
              <a:rPr b="1" lang="en" sz="1700">
                <a:solidFill>
                  <a:schemeClr val="dk1"/>
                </a:solidFill>
                <a:latin typeface="Roboto"/>
                <a:ea typeface="Roboto"/>
                <a:cs typeface="Roboto"/>
                <a:sym typeface="Roboto"/>
              </a:rPr>
              <a:t>Q4: Lowest Popularity Film &amp; Genre Classification</a:t>
            </a:r>
            <a:endParaRPr b="1" sz="17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rPr lang="en" sz="1200">
                <a:solidFill>
                  <a:schemeClr val="dk1"/>
                </a:solidFill>
                <a:latin typeface="Roboto"/>
                <a:ea typeface="Roboto"/>
                <a:cs typeface="Roboto"/>
                <a:sym typeface="Roboto"/>
              </a:rPr>
              <a:t>Finding: "The United States, Thread" recorded the lowest popularity rating. This film is classified across five genres: Music, Drama, War, Science Fiction, and History.</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200">
                <a:solidFill>
                  <a:schemeClr val="dk1"/>
                </a:solidFill>
                <a:latin typeface="Roboto"/>
                <a:ea typeface="Roboto"/>
                <a:cs typeface="Roboto"/>
                <a:sym typeface="Roboto"/>
              </a:rPr>
              <a:t>Implication: Despite multi-genre positioning, films with dispersed genre classifications may struggle to establish clear audience identity. The complexity of five-genre alignment could dilute marketing effectiveness and audience targeting.</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600"/>
              </a:spcAft>
              <a:buNone/>
            </a:pPr>
            <a:r>
              <a:t/>
            </a:r>
            <a:endParaRPr b="1" sz="1700">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nvSpPr>
        <p:spPr>
          <a:xfrm>
            <a:off x="227475" y="467600"/>
            <a:ext cx="5930400" cy="479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700">
                <a:solidFill>
                  <a:schemeClr val="dk1"/>
                </a:solidFill>
                <a:latin typeface="Roboto"/>
                <a:ea typeface="Roboto"/>
                <a:cs typeface="Roboto"/>
                <a:sym typeface="Roboto"/>
              </a:rPr>
              <a:t>Q5: Year with Highest Film Production</a:t>
            </a:r>
            <a:endParaRPr b="1" sz="17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rPr lang="en" sz="1200">
                <a:solidFill>
                  <a:schemeClr val="dk1"/>
                </a:solidFill>
                <a:latin typeface="Roboto"/>
                <a:ea typeface="Roboto"/>
                <a:cs typeface="Roboto"/>
                <a:sym typeface="Roboto"/>
              </a:rPr>
              <a:t>Finding: 2020 recorded the maximum number of film releases in the dataset, indicating peak production activity during this year.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200">
                <a:solidFill>
                  <a:schemeClr val="dk1"/>
                </a:solidFill>
                <a:latin typeface="Roboto"/>
                <a:ea typeface="Roboto"/>
                <a:cs typeface="Roboto"/>
                <a:sym typeface="Roboto"/>
              </a:rPr>
              <a:t>Implication: The concentration of releases in 2020 reflects industry trends, potentially influenced by streaming platform expansion, technological accessibility, and pandemic-related production dynamics. This year represents a significant inflection point in content volume.</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t/>
            </a:r>
            <a:endParaRPr sz="1200">
              <a:solidFill>
                <a:schemeClr val="dk1"/>
              </a:solidFill>
              <a:latin typeface="Roboto"/>
              <a:ea typeface="Roboto"/>
              <a:cs typeface="Roboto"/>
              <a:sym typeface="Roboto"/>
            </a:endParaRPr>
          </a:p>
          <a:p>
            <a:pPr indent="0" lvl="0" marL="0" rtl="0" algn="l">
              <a:lnSpc>
                <a:spcPct val="115000"/>
              </a:lnSpc>
              <a:spcBef>
                <a:spcPts val="1800"/>
              </a:spcBef>
              <a:spcAft>
                <a:spcPts val="0"/>
              </a:spcAft>
              <a:buNone/>
            </a:pPr>
            <a:r>
              <a:rPr b="1" lang="en" sz="1700">
                <a:solidFill>
                  <a:schemeClr val="dk1"/>
                </a:solidFill>
                <a:latin typeface="Roboto"/>
                <a:ea typeface="Roboto"/>
                <a:cs typeface="Roboto"/>
                <a:sym typeface="Roboto"/>
              </a:rPr>
              <a:t>Conclusion</a:t>
            </a:r>
            <a:endParaRPr b="1" sz="1700">
              <a:solidFill>
                <a:schemeClr val="dk1"/>
              </a:solidFill>
              <a:latin typeface="Roboto"/>
              <a:ea typeface="Roboto"/>
              <a:cs typeface="Roboto"/>
              <a:sym typeface="Roboto"/>
            </a:endParaRPr>
          </a:p>
          <a:p>
            <a:pPr indent="0" lvl="0" marL="0" rtl="0" algn="l">
              <a:lnSpc>
                <a:spcPct val="115000"/>
              </a:lnSpc>
              <a:spcBef>
                <a:spcPts val="600"/>
              </a:spcBef>
              <a:spcAft>
                <a:spcPts val="0"/>
              </a:spcAft>
              <a:buNone/>
            </a:pPr>
            <a:r>
              <a:rPr lang="en" sz="1200">
                <a:solidFill>
                  <a:schemeClr val="dk1"/>
                </a:solidFill>
                <a:latin typeface="Roboto"/>
                <a:ea typeface="Roboto"/>
                <a:cs typeface="Roboto"/>
                <a:sym typeface="Roboto"/>
              </a:rPr>
              <a:t>This analysis reveals that Drama genre dominance is consistent across volume, popularity, and engagement metrics. The dataset demonstrates that single-genre or dual-genre positioning (exemplified by Spider-Man's Action-Adventure-Sci-Fi combination) outperforms heavily multi-genre classifications in popularity ratings. The 2020 production peak suggests accelerating content creation trends in the film industry, likely driven by digital distribution evolution and changing consumption patterns.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600"/>
              </a:spcAft>
              <a:buNone/>
            </a:pPr>
            <a:r>
              <a:t/>
            </a:r>
            <a:endParaRPr b="1" sz="1700">
              <a:solidFill>
                <a:schemeClr val="dk1"/>
              </a:solidFill>
              <a:latin typeface="Roboto"/>
              <a:ea typeface="Roboto"/>
              <a:cs typeface="Roboto"/>
              <a:sym typeface="Roboto"/>
            </a:endParaRPr>
          </a:p>
        </p:txBody>
      </p:sp>
      <p:pic>
        <p:nvPicPr>
          <p:cNvPr id="81" name="Google Shape;81;p17"/>
          <p:cNvPicPr preferRelativeResize="0"/>
          <p:nvPr/>
        </p:nvPicPr>
        <p:blipFill>
          <a:blip r:embed="rId3">
            <a:alphaModFix/>
          </a:blip>
          <a:stretch>
            <a:fillRect/>
          </a:stretch>
        </p:blipFill>
        <p:spPr>
          <a:xfrm>
            <a:off x="6157875" y="683175"/>
            <a:ext cx="2681324" cy="203410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